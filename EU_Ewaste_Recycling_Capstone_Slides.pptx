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52"/>
    <p:restoredTop sz="94631"/>
  </p:normalViewPr>
  <p:slideViewPr>
    <p:cSldViewPr snapToGrid="0" snapToObjects="1">
      <p:cViewPr varScale="1">
        <p:scale>
          <a:sx n="87" d="100"/>
          <a:sy n="87" d="100"/>
        </p:scale>
        <p:origin x="2264" y="5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close-up of a recycle symbol&#10;&#10;AI-generated content may be incorrect.">
            <a:extLst>
              <a:ext uri="{FF2B5EF4-FFF2-40B4-BE49-F238E27FC236}">
                <a16:creationId xmlns:a16="http://schemas.microsoft.com/office/drawing/2014/main" id="{67896A6D-F3B3-95F5-0493-D51E148B17E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156" t="5546" r="35074" b="-1"/>
          <a:stretch>
            <a:fillRect/>
          </a:stretch>
        </p:blipFill>
        <p:spPr>
          <a:xfrm>
            <a:off x="2642616" y="10"/>
            <a:ext cx="6501384" cy="685799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317450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8485" y="383011"/>
            <a:ext cx="4552728" cy="3204134"/>
          </a:xfrm>
        </p:spPr>
        <p:txBody>
          <a:bodyPr anchor="b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4200" dirty="0"/>
              <a:t>Modeling E‑Waste Recycling in Europe (2010–2020)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58485" y="4872922"/>
            <a:ext cx="3017519" cy="1208141"/>
          </a:xfrm>
        </p:spPr>
        <p:txBody>
          <a:bodyPr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1700"/>
              <a:t>Zinab Jadidi</a:t>
            </a:r>
          </a:p>
          <a:p>
            <a:pPr algn="l">
              <a:lnSpc>
                <a:spcPct val="90000"/>
              </a:lnSpc>
            </a:pPr>
            <a:r>
              <a:rPr lang="en-US" sz="1700"/>
              <a:t>Springboard Data Science Bootcamp</a:t>
            </a:r>
          </a:p>
          <a:p>
            <a:pPr algn="l">
              <a:lnSpc>
                <a:spcPct val="90000"/>
              </a:lnSpc>
            </a:pPr>
            <a:r>
              <a:rPr lang="en-US" sz="1700"/>
              <a:t>December 2025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51653" y="434802"/>
            <a:ext cx="146304" cy="52806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0771" y="4546920"/>
            <a:ext cx="298323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Problem &amp;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>
              <a:buFont typeface="Wingdings" pitchFamily="2" charset="2"/>
              <a:buChar char="q"/>
            </a:pPr>
            <a:r>
              <a:rPr sz="2400" dirty="0"/>
              <a:t>E‑waste is one of the fastest‑growing waste streams globally.</a:t>
            </a:r>
            <a:endParaRPr lang="en-US" sz="2400" dirty="0"/>
          </a:p>
          <a:p>
            <a:pPr marL="457200" lvl="1" indent="0">
              <a:buNone/>
            </a:pPr>
            <a:endParaRPr sz="2400" dirty="0"/>
          </a:p>
          <a:p>
            <a:pPr lvl="1">
              <a:buFont typeface="Wingdings" pitchFamily="2" charset="2"/>
              <a:buChar char="q"/>
            </a:pPr>
            <a:r>
              <a:rPr sz="2400" dirty="0"/>
              <a:t>European policymakers need to understand which countries lead or lag in e‑waste recycling and why.</a:t>
            </a:r>
            <a:endParaRPr lang="en-US" sz="2400" dirty="0"/>
          </a:p>
          <a:p>
            <a:pPr marL="457200" lvl="1" indent="0">
              <a:buNone/>
            </a:pPr>
            <a:endParaRPr sz="2400" dirty="0"/>
          </a:p>
          <a:p>
            <a:pPr lvl="1">
              <a:buFont typeface="Wingdings" pitchFamily="2" charset="2"/>
              <a:buChar char="q"/>
            </a:pPr>
            <a:r>
              <a:rPr sz="2400" dirty="0"/>
              <a:t>Objective: describe trends, compare countries, and model country‑level recycling rates to support policy decisions.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&amp;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US" sz="2400" dirty="0"/>
              <a:t> </a:t>
            </a:r>
            <a:r>
              <a:rPr sz="2400" dirty="0"/>
              <a:t>Our World in Data (OWID): E‑waste recycling rate (%).</a:t>
            </a:r>
            <a:endParaRPr lang="en-US" sz="2400" dirty="0"/>
          </a:p>
          <a:p>
            <a:pPr marL="0" indent="0">
              <a:buNone/>
            </a:pPr>
            <a:endParaRPr sz="2400" dirty="0"/>
          </a:p>
          <a:p>
            <a:pPr lvl="1">
              <a:buFont typeface="Wingdings" pitchFamily="2" charset="2"/>
              <a:buChar char="§"/>
            </a:pPr>
            <a:r>
              <a:rPr sz="2400" dirty="0"/>
              <a:t>World Bank WDI: Population (SP.POP.TOTL) and GDP (NY.GDP.MKTP.CD).</a:t>
            </a:r>
          </a:p>
          <a:p>
            <a:pPr lvl="1">
              <a:buFont typeface="Wingdings" pitchFamily="2" charset="2"/>
              <a:buChar char="§"/>
            </a:pPr>
            <a:r>
              <a:rPr sz="2400" dirty="0"/>
              <a:t>Geographic scope: 31 European countries (EU‑27, EEA/EFTA, UK, Balkans, Eastern Europe, microstates).</a:t>
            </a:r>
          </a:p>
          <a:p>
            <a:pPr lvl="1">
              <a:buFont typeface="Wingdings" pitchFamily="2" charset="2"/>
              <a:buChar char="§"/>
            </a:pPr>
            <a:r>
              <a:rPr sz="2400" dirty="0"/>
              <a:t>Time window: 2010–2020 (depending on country coverage).</a:t>
            </a:r>
          </a:p>
          <a:p>
            <a:pPr lvl="1">
              <a:buFont typeface="Wingdings" pitchFamily="2" charset="2"/>
              <a:buChar char="§"/>
            </a:pPr>
            <a:r>
              <a:rPr sz="2400" dirty="0"/>
              <a:t>Final panel: 271 country‑year observations.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Wrangling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19238"/>
            <a:ext cx="8229600" cy="4525963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sz="2400" dirty="0"/>
              <a:t>Standardized OWID columns to: country, </a:t>
            </a:r>
            <a:r>
              <a:rPr sz="2400" dirty="0" err="1"/>
              <a:t>country_code</a:t>
            </a:r>
            <a:r>
              <a:rPr sz="2400" dirty="0"/>
              <a:t> (ISO3), year, </a:t>
            </a:r>
            <a:r>
              <a:rPr sz="2400" dirty="0" err="1"/>
              <a:t>ewaste_recycling_rate_pct</a:t>
            </a:r>
            <a:r>
              <a:rPr sz="2400" dirty="0"/>
              <a:t>.</a:t>
            </a:r>
          </a:p>
          <a:p>
            <a:pPr lvl="1">
              <a:buFont typeface="Wingdings" pitchFamily="2" charset="2"/>
              <a:buChar char="§"/>
            </a:pPr>
            <a:r>
              <a:rPr sz="2400" dirty="0"/>
              <a:t>Pulled WDI population and GDP via JSON API and reshaped into long format.</a:t>
            </a:r>
          </a:p>
          <a:p>
            <a:pPr lvl="1">
              <a:buFont typeface="Wingdings" pitchFamily="2" charset="2"/>
              <a:buChar char="§"/>
            </a:pPr>
            <a:r>
              <a:rPr sz="2400" dirty="0"/>
              <a:t>Filtered to European ISO3 codes and removed regional aggregates.</a:t>
            </a:r>
          </a:p>
          <a:p>
            <a:pPr lvl="1">
              <a:buFont typeface="Wingdings" pitchFamily="2" charset="2"/>
              <a:buChar char="§"/>
            </a:pPr>
            <a:r>
              <a:rPr sz="2400" dirty="0"/>
              <a:t>Merged OWID ↔ WDI on (</a:t>
            </a:r>
            <a:r>
              <a:rPr sz="2400" dirty="0" err="1"/>
              <a:t>country_code</a:t>
            </a:r>
            <a:r>
              <a:rPr sz="2400" dirty="0"/>
              <a:t>, year) to build a single panel.</a:t>
            </a:r>
          </a:p>
          <a:p>
            <a:pPr lvl="1">
              <a:buFont typeface="Wingdings" pitchFamily="2" charset="2"/>
              <a:buChar char="§"/>
            </a:pPr>
            <a:r>
              <a:rPr sz="2400" dirty="0"/>
              <a:t>Dropped rows with missing recycling rate and restricted analysis to 2010–2020.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– Distribution &amp; Coverage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250724" y="1417638"/>
            <a:ext cx="5161937" cy="4971802"/>
          </a:xfrm>
        </p:spPr>
        <p:txBody>
          <a:bodyPr>
            <a:noAutofit/>
          </a:bodyPr>
          <a:lstStyle/>
          <a:p>
            <a:pPr lvl="1">
              <a:buFont typeface="Wingdings" pitchFamily="2" charset="2"/>
              <a:buChar char="§"/>
            </a:pPr>
            <a:r>
              <a:rPr sz="2400" dirty="0"/>
              <a:t>Recycling rate histogram: most observations between ~75–90%, median ≈ 83%.</a:t>
            </a:r>
          </a:p>
          <a:p>
            <a:pPr lvl="1">
              <a:buFont typeface="Wingdings" pitchFamily="2" charset="2"/>
              <a:buChar char="§"/>
            </a:pPr>
            <a:r>
              <a:rPr sz="2400" dirty="0"/>
              <a:t>Some values exceed 100%, likely due to reporting conventions (stockpiled e‑waste, etc.).</a:t>
            </a:r>
          </a:p>
          <a:p>
            <a:pPr lvl="1">
              <a:buFont typeface="Wingdings" pitchFamily="2" charset="2"/>
              <a:buChar char="§"/>
            </a:pPr>
            <a:r>
              <a:rPr sz="2400" dirty="0"/>
              <a:t>Coverage table: number of years of data per country (</a:t>
            </a:r>
            <a:r>
              <a:rPr sz="2400" dirty="0" err="1"/>
              <a:t>n_years</a:t>
            </a:r>
            <a:r>
              <a:rPr sz="2400" dirty="0"/>
              <a:t>).</a:t>
            </a:r>
          </a:p>
          <a:p>
            <a:pPr lvl="1">
              <a:buFont typeface="Wingdings" pitchFamily="2" charset="2"/>
              <a:buChar char="§"/>
            </a:pPr>
            <a:r>
              <a:rPr sz="2400" dirty="0"/>
              <a:t>Coverage bar chart highlights countries with strong vs sparse time coverage.</a:t>
            </a:r>
          </a:p>
        </p:txBody>
      </p:sp>
      <p:pic>
        <p:nvPicPr>
          <p:cNvPr id="5" name="Picture 4" descr="A graph of a recycle rate&#10;&#10;AI-generated content may be incorrect.">
            <a:extLst>
              <a:ext uri="{FF2B5EF4-FFF2-40B4-BE49-F238E27FC236}">
                <a16:creationId xmlns:a16="http://schemas.microsoft.com/office/drawing/2014/main" id="{FE974B24-16A7-0376-6D75-C7A0D32CF5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0860" y="2225410"/>
            <a:ext cx="4283140" cy="261660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EDA – EU Trend (Mean vs Population‑Weighted)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417638"/>
            <a:ext cx="9144000" cy="3143865"/>
          </a:xfrm>
        </p:spPr>
        <p:txBody>
          <a:bodyPr>
            <a:normAutofit/>
          </a:bodyPr>
          <a:lstStyle/>
          <a:p>
            <a:pPr lvl="1">
              <a:buFont typeface="Wingdings" pitchFamily="2" charset="2"/>
              <a:buChar char="§"/>
            </a:pPr>
            <a:r>
              <a:rPr sz="2000" dirty="0"/>
              <a:t>Constructed two series: simple mean and population‑weighted EU recycling rate.</a:t>
            </a:r>
          </a:p>
          <a:p>
            <a:pPr lvl="1">
              <a:buFont typeface="Wingdings" pitchFamily="2" charset="2"/>
              <a:buChar char="§"/>
            </a:pPr>
            <a:r>
              <a:rPr sz="2000" dirty="0"/>
              <a:t>From 2010–2018, both series are relatively stable around 80–85%.</a:t>
            </a:r>
          </a:p>
          <a:p>
            <a:pPr lvl="1">
              <a:buFont typeface="Wingdings" pitchFamily="2" charset="2"/>
              <a:buChar char="§"/>
            </a:pPr>
            <a:r>
              <a:rPr sz="2000" dirty="0"/>
              <a:t>Population‑weighted rate is consistently below the simple mean.</a:t>
            </a:r>
          </a:p>
          <a:p>
            <a:pPr lvl="1">
              <a:buFont typeface="Wingdings" pitchFamily="2" charset="2"/>
              <a:buChar char="§"/>
            </a:pPr>
            <a:r>
              <a:rPr sz="2000" dirty="0"/>
              <a:t>Interpretation: larger countries tend to recycle slightly less than smaller high‑performers.</a:t>
            </a:r>
          </a:p>
          <a:p>
            <a:pPr lvl="1">
              <a:buFont typeface="Wingdings" pitchFamily="2" charset="2"/>
              <a:buChar char="§"/>
            </a:pPr>
            <a:r>
              <a:rPr sz="2000" dirty="0"/>
              <a:t>Sharp dip around 2019 likely reflects data/reporting changes, not real system collapse.</a:t>
            </a:r>
          </a:p>
        </p:txBody>
      </p:sp>
      <p:pic>
        <p:nvPicPr>
          <p:cNvPr id="5" name="Picture 4" descr="A graph of a graph showing the amount of waste recycling&#10;&#10;AI-generated content may be incorrect.">
            <a:extLst>
              <a:ext uri="{FF2B5EF4-FFF2-40B4-BE49-F238E27FC236}">
                <a16:creationId xmlns:a16="http://schemas.microsoft.com/office/drawing/2014/main" id="{5514B2AC-610D-7497-0AD4-2D69629AA5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2905" y="3923844"/>
            <a:ext cx="5173611" cy="282655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– Country Rankings &amp; Trends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6125" y="1417638"/>
            <a:ext cx="3754396" cy="4732440"/>
          </a:xfrm>
        </p:spPr>
        <p:txBody>
          <a:bodyPr>
            <a:normAutofit fontScale="92500" lnSpcReduction="20000"/>
          </a:bodyPr>
          <a:lstStyle/>
          <a:p>
            <a:pPr lvl="1">
              <a:buFont typeface="Wingdings" pitchFamily="2" charset="2"/>
              <a:buChar char="§"/>
            </a:pPr>
            <a:r>
              <a:rPr sz="2400" dirty="0"/>
              <a:t>Chose 2018 as the latest common year with broad country coverage.</a:t>
            </a:r>
          </a:p>
          <a:p>
            <a:pPr lvl="1">
              <a:buFont typeface="Wingdings" pitchFamily="2" charset="2"/>
              <a:buChar char="§"/>
            </a:pPr>
            <a:r>
              <a:rPr sz="2400" dirty="0"/>
              <a:t>Ranked countries by recycling rate in 2018 (horizontal bar chart).</a:t>
            </a:r>
          </a:p>
          <a:p>
            <a:pPr lvl="1">
              <a:buFont typeface="Wingdings" pitchFamily="2" charset="2"/>
              <a:buChar char="§"/>
            </a:pPr>
            <a:r>
              <a:rPr sz="2400" dirty="0"/>
              <a:t>Leaders (e.g., Austria, Finland, Croatia, Slovakia, Netherlands) maintain high, stable rates.</a:t>
            </a:r>
          </a:p>
          <a:p>
            <a:pPr lvl="1">
              <a:buFont typeface="Wingdings" pitchFamily="2" charset="2"/>
              <a:buChar char="§"/>
            </a:pPr>
            <a:r>
              <a:rPr sz="2400" dirty="0"/>
              <a:t>Some countries show volatility or sudden jumps/drops, often tied to small populations or reporting changes.</a:t>
            </a:r>
          </a:p>
        </p:txBody>
      </p:sp>
      <p:pic>
        <p:nvPicPr>
          <p:cNvPr id="5" name="Picture 4" descr="A graph of recycle rates&#10;&#10;AI-generated content may be incorrect.">
            <a:extLst>
              <a:ext uri="{FF2B5EF4-FFF2-40B4-BE49-F238E27FC236}">
                <a16:creationId xmlns:a16="http://schemas.microsoft.com/office/drawing/2014/main" id="{8901DB78-160A-C1DD-0E9B-64C0DF3FAA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0521" y="1417638"/>
            <a:ext cx="5273479" cy="514349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– GDP per Capita vs Recycling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191090" cy="2573593"/>
          </a:xfrm>
        </p:spPr>
        <p:txBody>
          <a:bodyPr>
            <a:normAutofit fontScale="77500" lnSpcReduction="20000"/>
          </a:bodyPr>
          <a:lstStyle/>
          <a:p>
            <a:pPr lvl="1">
              <a:buFont typeface="Wingdings" pitchFamily="2" charset="2"/>
              <a:buChar char="§"/>
            </a:pPr>
            <a:r>
              <a:rPr dirty="0"/>
              <a:t>Created </a:t>
            </a:r>
            <a:r>
              <a:rPr dirty="0" err="1"/>
              <a:t>gdp_per_capita</a:t>
            </a:r>
            <a:r>
              <a:rPr dirty="0"/>
              <a:t> and </a:t>
            </a:r>
            <a:r>
              <a:rPr dirty="0" err="1"/>
              <a:t>log_gdp_per_capita</a:t>
            </a:r>
            <a:r>
              <a:rPr dirty="0"/>
              <a:t> for modeling.</a:t>
            </a:r>
          </a:p>
          <a:p>
            <a:pPr lvl="1">
              <a:buFont typeface="Wingdings" pitchFamily="2" charset="2"/>
              <a:buChar char="§"/>
            </a:pPr>
            <a:r>
              <a:rPr dirty="0"/>
              <a:t>Scatter plots (log scale) show a weak, slightly negative relationship.</a:t>
            </a:r>
          </a:p>
          <a:p>
            <a:pPr lvl="1">
              <a:buFont typeface="Wingdings" pitchFamily="2" charset="2"/>
              <a:buChar char="§"/>
            </a:pPr>
            <a:r>
              <a:rPr dirty="0"/>
              <a:t>Pearson r ≈ −0.13 (all country‑years) and r ≈ −0.25 (country means).</a:t>
            </a:r>
          </a:p>
          <a:p>
            <a:pPr lvl="1">
              <a:buFont typeface="Wingdings" pitchFamily="2" charset="2"/>
              <a:buChar char="§"/>
            </a:pPr>
            <a:r>
              <a:rPr dirty="0"/>
              <a:t>Conclusion: wealth alone does not predict higher e‑waste recycling performance.</a:t>
            </a:r>
          </a:p>
        </p:txBody>
      </p:sp>
      <p:pic>
        <p:nvPicPr>
          <p:cNvPr id="5" name="Picture 4" descr="A graph showing a graph of blue dots&#10;&#10;AI-generated content may be incorrect.">
            <a:extLst>
              <a:ext uri="{FF2B5EF4-FFF2-40B4-BE49-F238E27FC236}">
                <a16:creationId xmlns:a16="http://schemas.microsoft.com/office/drawing/2014/main" id="{257B0752-F5C5-DA03-074B-1A91431E3E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3943" y="3561735"/>
            <a:ext cx="5158308" cy="315436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Modeling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>
              <a:buFont typeface="Wingdings" pitchFamily="2" charset="2"/>
              <a:buChar char="§"/>
            </a:pPr>
            <a:r>
              <a:rPr sz="2400" dirty="0"/>
              <a:t>Features: year, population, </a:t>
            </a:r>
            <a:r>
              <a:rPr sz="2400" dirty="0" err="1"/>
              <a:t>log_gdp_per_capita</a:t>
            </a:r>
            <a:r>
              <a:rPr sz="2400" dirty="0"/>
              <a:t>, </a:t>
            </a:r>
            <a:r>
              <a:rPr sz="2400" dirty="0" err="1"/>
              <a:t>country_code</a:t>
            </a:r>
            <a:r>
              <a:rPr sz="2400" dirty="0"/>
              <a:t> (one‑hot encoded).</a:t>
            </a:r>
            <a:endParaRPr lang="en-US" sz="2400" dirty="0"/>
          </a:p>
          <a:p>
            <a:pPr marL="457200" lvl="1" indent="0">
              <a:buNone/>
            </a:pPr>
            <a:endParaRPr sz="2400" dirty="0"/>
          </a:p>
          <a:p>
            <a:pPr lvl="1">
              <a:buFont typeface="Wingdings" pitchFamily="2" charset="2"/>
              <a:buChar char="§"/>
            </a:pPr>
            <a:r>
              <a:rPr sz="2400" dirty="0"/>
              <a:t>Preprocessing: </a:t>
            </a:r>
            <a:r>
              <a:rPr sz="2400" dirty="0" err="1"/>
              <a:t>StandardScaler</a:t>
            </a:r>
            <a:r>
              <a:rPr sz="2400" dirty="0"/>
              <a:t> for numeric features and </a:t>
            </a:r>
            <a:r>
              <a:rPr sz="2400" dirty="0" err="1"/>
              <a:t>OneHotEncoder</a:t>
            </a:r>
            <a:r>
              <a:rPr sz="2400" dirty="0"/>
              <a:t>(drop='first') for </a:t>
            </a:r>
            <a:r>
              <a:rPr sz="2400" dirty="0" err="1"/>
              <a:t>country_code</a:t>
            </a:r>
            <a:r>
              <a:rPr sz="2400" dirty="0"/>
              <a:t>.</a:t>
            </a:r>
            <a:endParaRPr lang="en-US" sz="2400" dirty="0"/>
          </a:p>
          <a:p>
            <a:pPr marL="457200" lvl="1" indent="0">
              <a:buNone/>
            </a:pPr>
            <a:endParaRPr sz="2400" dirty="0"/>
          </a:p>
          <a:p>
            <a:pPr lvl="1">
              <a:buFont typeface="Wingdings" pitchFamily="2" charset="2"/>
              <a:buChar char="§"/>
            </a:pPr>
            <a:r>
              <a:rPr sz="2400" dirty="0"/>
              <a:t>Train/Validation/Test split: 60% / 20% / 20%, </a:t>
            </a:r>
            <a:r>
              <a:rPr sz="2400" dirty="0" err="1"/>
              <a:t>random_state</a:t>
            </a:r>
            <a:r>
              <a:rPr sz="2400" dirty="0"/>
              <a:t>=42 for reproducibility.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Models Evaluated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sz="2400" dirty="0"/>
              <a:t>Baseline Mean Regressor – always predicts the training mean recycling rate.</a:t>
            </a:r>
            <a:endParaRPr lang="en-US" sz="2400" dirty="0"/>
          </a:p>
          <a:p>
            <a:pPr marL="0" indent="0">
              <a:buNone/>
            </a:pPr>
            <a:endParaRPr sz="2400" dirty="0"/>
          </a:p>
          <a:p>
            <a:pPr lvl="1">
              <a:buFont typeface="Wingdings" pitchFamily="2" charset="2"/>
              <a:buChar char="§"/>
            </a:pPr>
            <a:r>
              <a:rPr sz="2400" dirty="0"/>
              <a:t>Linear Regression – captures linear relationships between scaled features and target.</a:t>
            </a:r>
            <a:endParaRPr lang="en-US" sz="2400" dirty="0"/>
          </a:p>
          <a:p>
            <a:pPr marL="457200" lvl="1" indent="0">
              <a:buNone/>
            </a:pPr>
            <a:endParaRPr sz="2400" dirty="0"/>
          </a:p>
          <a:p>
            <a:pPr lvl="1">
              <a:buFont typeface="Wingdings" pitchFamily="2" charset="2"/>
              <a:buChar char="§"/>
            </a:pPr>
            <a:r>
              <a:rPr sz="2400" dirty="0"/>
              <a:t>Random Forest Regressor – nonlinear model with interactions; tuned via </a:t>
            </a:r>
            <a:r>
              <a:rPr sz="2400" dirty="0" err="1"/>
              <a:t>GridSearchCV</a:t>
            </a:r>
            <a:r>
              <a:rPr sz="2400" dirty="0"/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Performance (Validation)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14948"/>
            <a:ext cx="8229600" cy="4525963"/>
          </a:xfrm>
        </p:spPr>
        <p:txBody>
          <a:bodyPr>
            <a:normAutofit/>
          </a:bodyPr>
          <a:lstStyle/>
          <a:p>
            <a:pPr lvl="1">
              <a:buFont typeface="Wingdings" pitchFamily="2" charset="2"/>
              <a:buChar char="§"/>
            </a:pPr>
            <a:r>
              <a:rPr dirty="0"/>
              <a:t>Baseline: MAE ≈ 4.46, RMSE ≈ 6.16, R² ≈ −0.00.</a:t>
            </a:r>
          </a:p>
          <a:p>
            <a:pPr lvl="1">
              <a:buFont typeface="Wingdings" pitchFamily="2" charset="2"/>
              <a:buChar char="§"/>
            </a:pPr>
            <a:r>
              <a:rPr dirty="0"/>
              <a:t>Linear Regression: MAE ≈ 4.34, RMSE ≈ 6.45, R² ≈ −0.10.</a:t>
            </a:r>
          </a:p>
          <a:p>
            <a:pPr lvl="1">
              <a:buFont typeface="Wingdings" pitchFamily="2" charset="2"/>
              <a:buChar char="§"/>
            </a:pPr>
            <a:r>
              <a:rPr dirty="0"/>
              <a:t>Random Forest (tuned): MAE ≈ 3.68, RMSE ≈ 5.32, R² ≈ 0.25.</a:t>
            </a:r>
          </a:p>
          <a:p>
            <a:pPr lvl="1">
              <a:buFont typeface="Wingdings" pitchFamily="2" charset="2"/>
              <a:buChar char="§"/>
            </a:pPr>
            <a:r>
              <a:rPr dirty="0"/>
              <a:t>Random Forest is the only model with positive validation R² and clearly improves on MAE/RMSE.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Model &amp; Test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sz="2400" dirty="0"/>
              <a:t>Selected tuned Random Forest as the final model based on validation performance.</a:t>
            </a:r>
            <a:endParaRPr lang="en-US" sz="2400" dirty="0"/>
          </a:p>
          <a:p>
            <a:pPr marL="0" indent="0">
              <a:buNone/>
            </a:pPr>
            <a:endParaRPr sz="2400" dirty="0"/>
          </a:p>
          <a:p>
            <a:pPr lvl="1">
              <a:buFont typeface="Wingdings" pitchFamily="2" charset="2"/>
              <a:buChar char="§"/>
            </a:pPr>
            <a:r>
              <a:rPr sz="2400" dirty="0"/>
              <a:t>Refit on combined Train + Validation set, evaluated on held‑out Test set.</a:t>
            </a:r>
          </a:p>
          <a:p>
            <a:pPr lvl="1">
              <a:buFont typeface="Wingdings" pitchFamily="2" charset="2"/>
              <a:buChar char="§"/>
            </a:pPr>
            <a:r>
              <a:rPr sz="2400" dirty="0"/>
              <a:t>Test MAE ≈ 5.46, RMSE ≈ 9.57, R² ≈ −0.46.</a:t>
            </a:r>
          </a:p>
          <a:p>
            <a:pPr lvl="1">
              <a:buFont typeface="Wingdings" pitchFamily="2" charset="2"/>
              <a:buChar char="§"/>
            </a:pPr>
            <a:r>
              <a:rPr sz="2400" dirty="0"/>
              <a:t>Negative test R² reflects small dataset, strong country‑specific effects, and limited feature set.</a:t>
            </a:r>
          </a:p>
          <a:p>
            <a:pPr lvl="1">
              <a:buFont typeface="Wingdings" pitchFamily="2" charset="2"/>
              <a:buChar char="§"/>
            </a:pPr>
            <a:r>
              <a:rPr sz="2400" dirty="0"/>
              <a:t>Model is still useful for understanding feature importance and relative patterns.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Feature Importance – Random Forest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417638"/>
            <a:ext cx="3522407" cy="4403693"/>
          </a:xfrm>
        </p:spPr>
        <p:txBody>
          <a:bodyPr>
            <a:noAutofit/>
          </a:bodyPr>
          <a:lstStyle/>
          <a:p>
            <a:pPr lvl="1">
              <a:buFont typeface="Wingdings" pitchFamily="2" charset="2"/>
              <a:buChar char="§"/>
            </a:pPr>
            <a:r>
              <a:rPr lang="en-US" sz="2000" dirty="0"/>
              <a:t>Top numeric features: population (~0.26), year (~0.18), </a:t>
            </a:r>
            <a:r>
              <a:rPr lang="en-US" sz="2000" dirty="0" err="1"/>
              <a:t>log_gdp_per_capita</a:t>
            </a:r>
            <a:r>
              <a:rPr lang="en-US" sz="2000" dirty="0"/>
              <a:t> (~0.11).</a:t>
            </a:r>
          </a:p>
          <a:p>
            <a:pPr lvl="1">
              <a:buFont typeface="Wingdings" pitchFamily="2" charset="2"/>
              <a:buChar char="§"/>
            </a:pPr>
            <a:r>
              <a:rPr sz="2000" dirty="0"/>
              <a:t>Several country dummy variables have high importance (e.g., Malta, Croatia, Lithuania, Slovenia).</a:t>
            </a:r>
          </a:p>
          <a:p>
            <a:pPr lvl="1">
              <a:buFont typeface="Wingdings" pitchFamily="2" charset="2"/>
              <a:buChar char="§"/>
            </a:pPr>
            <a:r>
              <a:rPr sz="2000" dirty="0"/>
              <a:t>Country identity is a strong driver, reflecting national systems, policy frameworks, and reporting practices.</a:t>
            </a:r>
          </a:p>
        </p:txBody>
      </p:sp>
      <p:pic>
        <p:nvPicPr>
          <p:cNvPr id="5" name="Picture 4" descr="A graph with blue bars&#10;&#10;AI-generated content may be incorrect.">
            <a:extLst>
              <a:ext uri="{FF2B5EF4-FFF2-40B4-BE49-F238E27FC236}">
                <a16:creationId xmlns:a16="http://schemas.microsoft.com/office/drawing/2014/main" id="{76AFE623-DDFE-0695-D09C-847CEE72D3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8912" y="3023419"/>
            <a:ext cx="5517101" cy="383458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52600"/>
            <a:ext cx="7937500" cy="4284663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sz="2400" dirty="0"/>
              <a:t>EU e‑waste recycling performance is relatively high (around 80–85%) but mostly plateaued over the 2010s.</a:t>
            </a:r>
          </a:p>
          <a:p>
            <a:pPr lvl="1">
              <a:buFont typeface="Wingdings" pitchFamily="2" charset="2"/>
              <a:buChar char="§"/>
            </a:pPr>
            <a:r>
              <a:rPr sz="2400" dirty="0"/>
              <a:t>Population‑weighted EU rates are lower than the simple mean, indicating that larger countries underperform relative to smaller leaders.</a:t>
            </a:r>
          </a:p>
          <a:p>
            <a:pPr lvl="1">
              <a:buFont typeface="Wingdings" pitchFamily="2" charset="2"/>
              <a:buChar char="§"/>
            </a:pPr>
            <a:r>
              <a:rPr sz="2400" dirty="0"/>
              <a:t>GDP per capita has a weak, slightly negative association with recycling rate; wealth alone does not drive success.</a:t>
            </a:r>
          </a:p>
          <a:p>
            <a:pPr lvl="1">
              <a:buFont typeface="Wingdings" pitchFamily="2" charset="2"/>
              <a:buChar char="§"/>
            </a:pPr>
            <a:r>
              <a:rPr sz="2400" dirty="0"/>
              <a:t>Country identity (systems, policies, culture, reporting) explains a large share of variation in recycling performance.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2400" dirty="0"/>
              <a:t>1) Focus on system and policy benchmarking rather than income: study high‑performing smaller countries to extract best practices.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sz="2400" dirty="0"/>
              <a:t>2) Prioritize large underperforming countries for deeper investigation and targeted support, as improvements there have outsized EU‑level impact.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sz="2400" dirty="0"/>
              <a:t>3) Invest in more consistent and harmonized reporting to reduce apparent 'shocks' caused by data artifacts and improve monitoring quality.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 &amp;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US" sz="2400" dirty="0"/>
              <a:t> </a:t>
            </a:r>
            <a:r>
              <a:rPr sz="2400" dirty="0"/>
              <a:t>Small dataset (271 country‑years, 31 countries) limits model complexity and generalization.</a:t>
            </a:r>
            <a:endParaRPr lang="en-US" sz="2400" dirty="0"/>
          </a:p>
          <a:p>
            <a:pPr marL="0" indent="0">
              <a:buNone/>
            </a:pPr>
            <a:endParaRPr sz="2400" dirty="0"/>
          </a:p>
          <a:p>
            <a:pPr lvl="1">
              <a:buFont typeface="Wingdings" pitchFamily="2" charset="2"/>
              <a:buChar char="§"/>
            </a:pPr>
            <a:r>
              <a:rPr sz="2400" dirty="0"/>
              <a:t>Feature set lacks direct policy variables (e.g., WEEE implementation details, collection system types).</a:t>
            </a:r>
            <a:endParaRPr lang="en-US" sz="2400" dirty="0"/>
          </a:p>
          <a:p>
            <a:pPr marL="457200" lvl="1" indent="0">
              <a:buNone/>
            </a:pPr>
            <a:endParaRPr sz="2400" dirty="0"/>
          </a:p>
          <a:p>
            <a:pPr lvl="1">
              <a:buFont typeface="Wingdings" pitchFamily="2" charset="2"/>
              <a:buChar char="§"/>
            </a:pPr>
            <a:r>
              <a:rPr sz="2400" dirty="0"/>
              <a:t>Future work: add policy and system design features, use time‑series cross‑validation, and analyze regional/policy clusters (Nordic, Western, Eastern, Southern Europe).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525963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sz="2400" dirty="0"/>
              <a:t>Built a European e‑waste recycling panel, performed EDA, and modeled recycling rates using socioeconomic context and country identity.</a:t>
            </a:r>
            <a:endParaRPr lang="en-US" sz="2400" dirty="0"/>
          </a:p>
          <a:p>
            <a:pPr marL="0" indent="0">
              <a:buNone/>
            </a:pPr>
            <a:endParaRPr sz="2400" dirty="0"/>
          </a:p>
          <a:p>
            <a:pPr lvl="1">
              <a:buFont typeface="Wingdings" pitchFamily="2" charset="2"/>
              <a:buChar char="§"/>
            </a:pPr>
            <a:r>
              <a:rPr sz="2400" dirty="0"/>
              <a:t>Found that institutional design and national systems matter more than GDP alone for explaining performance.</a:t>
            </a:r>
          </a:p>
          <a:p>
            <a:pPr lvl="1">
              <a:buFont typeface="Wingdings" pitchFamily="2" charset="2"/>
              <a:buChar char="§"/>
            </a:pPr>
            <a:r>
              <a:rPr sz="2400" dirty="0"/>
              <a:t>Random Forest provided the best (though imperfect) predictive performance and highlighted key drivers.</a:t>
            </a:r>
          </a:p>
          <a:p>
            <a:pPr lvl="1">
              <a:buFont typeface="Wingdings" pitchFamily="2" charset="2"/>
              <a:buChar char="§"/>
            </a:pPr>
            <a:r>
              <a:rPr sz="2400" dirty="0"/>
              <a:t>Results offer a foundation for policy‑focused follow‑up analysis and improved data collection.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1144</Words>
  <Application>Microsoft Macintosh PowerPoint</Application>
  <PresentationFormat>On-screen Show (4:3)</PresentationFormat>
  <Paragraphs>95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Wingdings</vt:lpstr>
      <vt:lpstr>Office Theme</vt:lpstr>
      <vt:lpstr>Modeling E‑Waste Recycling in Europe (2010–2020)</vt:lpstr>
      <vt:lpstr>Problem &amp; Objective</vt:lpstr>
      <vt:lpstr>Data &amp; Scope</vt:lpstr>
      <vt:lpstr>Data Wrangling Overview</vt:lpstr>
      <vt:lpstr>EDA – Distribution &amp; Coverage</vt:lpstr>
      <vt:lpstr>EDA – EU Trend (Mean vs Population‑Weighted)</vt:lpstr>
      <vt:lpstr>EDA – Country Rankings &amp; Trends</vt:lpstr>
      <vt:lpstr>EDA – GDP per Capita vs Recycling</vt:lpstr>
      <vt:lpstr>Modeling Setup</vt:lpstr>
      <vt:lpstr>Models Evaluated</vt:lpstr>
      <vt:lpstr>Model Performance (Validation)</vt:lpstr>
      <vt:lpstr>Final Model &amp; Test Performance</vt:lpstr>
      <vt:lpstr>Feature Importance – Random Forest</vt:lpstr>
      <vt:lpstr>Key Insights</vt:lpstr>
      <vt:lpstr>Recommendations</vt:lpstr>
      <vt:lpstr>Limitations &amp; Future Work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zinab jadidi</cp:lastModifiedBy>
  <cp:revision>4</cp:revision>
  <dcterms:created xsi:type="dcterms:W3CDTF">2013-01-27T09:14:16Z</dcterms:created>
  <dcterms:modified xsi:type="dcterms:W3CDTF">2025-12-12T02:35:26Z</dcterms:modified>
  <cp:category/>
</cp:coreProperties>
</file>